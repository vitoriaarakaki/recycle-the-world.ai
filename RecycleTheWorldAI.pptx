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657600"/>
          </a:xfrm>
          <a:prstGeom prst="rect">
            <a:avLst/>
          </a:prstGeom>
          <a:solidFill>
            <a:srgbClr val="0A4F6E">
              <a:alpha val="12000"/>
            </a:srgbClr>
          </a:solidFill>
          <a:ln w="12700">
            <a:solidFill>
              <a:srgbClr val="0A4F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2743200"/>
          </a:xfrm>
          <a:prstGeom prst="rect">
            <a:avLst/>
          </a:prstGeom>
          <a:solidFill>
            <a:srgbClr val="0E8FA0">
              <a:alpha val="10000"/>
            </a:srgbClr>
          </a:solidFill>
          <a:ln w="12700">
            <a:solidFill>
              <a:srgbClr val="0E8FA0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5303520" y="457200"/>
            <a:ext cx="36576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731520"/>
            <a:ext cx="3474720" cy="274320"/>
          </a:xfrm>
          <a:prstGeom prst="rect">
            <a:avLst>
              <a:gd name="adj" fmla="val 50000"/>
            </a:avLst>
          </a:prstGeom>
          <a:solidFill>
            <a:srgbClr val="12C4D4">
              <a:alpha val="18000"/>
            </a:srgbClr>
          </a:solidFill>
          <a:ln w="12700">
            <a:solidFill>
              <a:srgbClr val="12C4D4">
                <a:alpha val="6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31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 MONITORAMENTO VIA SATÉLITE · IA · TEMPO REAL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13258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Recycle the World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02920" y="2057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i="1" dirty="0">
                <a:solidFill>
                  <a:srgbClr val="12C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502920" y="28346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Monitoramento Global de Resíduos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Cidades e nos Oceanos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3566160"/>
            <a:ext cx="3840480" cy="27432"/>
          </a:xfrm>
          <a:prstGeom prst="rect">
            <a:avLst/>
          </a:prstGeom>
          <a:solidFill>
            <a:srgbClr val="12C4D4">
              <a:alpha val="50000"/>
            </a:srgbClr>
          </a:solidFill>
          <a:ln w="12700">
            <a:solidFill>
              <a:srgbClr val="12C4D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3657600"/>
            <a:ext cx="1828800" cy="292608"/>
          </a:xfrm>
          <a:prstGeom prst="rect">
            <a:avLst>
              <a:gd name="adj" fmla="val 50000"/>
            </a:avLst>
          </a:prstGeom>
          <a:solidFill>
            <a:srgbClr val="0A4F6E">
              <a:alpha val="25000"/>
            </a:srgbClr>
          </a:solidFill>
          <a:ln w="12700">
            <a:solidFill>
              <a:srgbClr val="12C4D4">
                <a:alpha val="4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657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Oceanos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60320" y="3657600"/>
            <a:ext cx="1828800" cy="292608"/>
          </a:xfrm>
          <a:prstGeom prst="rect">
            <a:avLst>
              <a:gd name="adj" fmla="val 50000"/>
            </a:avLst>
          </a:prstGeom>
          <a:solidFill>
            <a:srgbClr val="0A4F6E">
              <a:alpha val="25000"/>
            </a:srgbClr>
          </a:solidFill>
          <a:ln w="12700">
            <a:solidFill>
              <a:srgbClr val="12C4D4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0" y="3657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Cidades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17720" y="3657600"/>
            <a:ext cx="1828800" cy="292608"/>
          </a:xfrm>
          <a:prstGeom prst="rect">
            <a:avLst>
              <a:gd name="adj" fmla="val 50000"/>
            </a:avLst>
          </a:prstGeom>
          <a:solidFill>
            <a:srgbClr val="0A4F6E">
              <a:alpha val="25000"/>
            </a:srgbClr>
          </a:solidFill>
          <a:ln w="12700">
            <a:solidFill>
              <a:srgbClr val="12C4D4">
                <a:alpha val="4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17720" y="3657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Economia Circular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675120" y="3657600"/>
            <a:ext cx="1828800" cy="292608"/>
          </a:xfrm>
          <a:prstGeom prst="rect">
            <a:avLst>
              <a:gd name="adj" fmla="val 50000"/>
            </a:avLst>
          </a:prstGeom>
          <a:solidFill>
            <a:srgbClr val="0A4F6E">
              <a:alpha val="25000"/>
            </a:srgbClr>
          </a:solidFill>
          <a:ln w="12700">
            <a:solidFill>
              <a:srgbClr val="12C4D4">
                <a:alpha val="4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0" y="3657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  Impacto Social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· recycletheworld.ai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657600"/>
          </a:xfrm>
          <a:prstGeom prst="rect">
            <a:avLst/>
          </a:prstGeom>
          <a:solidFill>
            <a:srgbClr val="0A4F6E">
              <a:alpha val="12000"/>
            </a:srgbClr>
          </a:solidFill>
          <a:ln w="12700">
            <a:solidFill>
              <a:srgbClr val="0A4F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2743200"/>
          </a:xfrm>
          <a:prstGeom prst="rect">
            <a:avLst/>
          </a:prstGeom>
          <a:solidFill>
            <a:srgbClr val="0E8FA0">
              <a:alpha val="10000"/>
            </a:srgbClr>
          </a:solidFill>
          <a:ln w="12700">
            <a:solidFill>
              <a:srgbClr val="0E8FA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ESCALA DO PROBLEMA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Números que não podemos ignorar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011680" cy="1371600"/>
          </a:xfrm>
          <a:prstGeom prst="rect">
            <a:avLst/>
          </a:prstGeom>
          <a:solidFill>
            <a:srgbClr val="04203D">
              <a:alpha val="80000"/>
            </a:srgbClr>
          </a:solidFill>
          <a:ln w="12700">
            <a:solidFill>
              <a:srgbClr val="E6394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01168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53312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2,2 bi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8912" y="184708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TONELADAS / ANO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05740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lixo sólido produzido globalmente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188720"/>
            <a:ext cx="2011680" cy="1371600"/>
          </a:xfrm>
          <a:prstGeom prst="rect">
            <a:avLst/>
          </a:prstGeom>
          <a:solidFill>
            <a:srgbClr val="04203D">
              <a:alpha val="80000"/>
            </a:srgbClr>
          </a:solidFill>
          <a:ln w="12700">
            <a:solidFill>
              <a:srgbClr val="E6394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188720"/>
            <a:ext cx="201168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1353312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 mi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87752" y="184708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TONELADAS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87752" y="205740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plástico acumulado nos oceanos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2011680" cy="1371600"/>
          </a:xfrm>
          <a:prstGeom prst="rect">
            <a:avLst/>
          </a:prstGeom>
          <a:solidFill>
            <a:srgbClr val="04203D">
              <a:alpha val="80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88720"/>
            <a:ext cx="20116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353312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36592" y="184708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LIXO URBANO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36592" y="205740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 de forma irregular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1188720"/>
            <a:ext cx="2011680" cy="1371600"/>
          </a:xfrm>
          <a:prstGeom prst="rect">
            <a:avLst/>
          </a:prstGeom>
          <a:solidFill>
            <a:srgbClr val="04203D">
              <a:alpha val="80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1188720"/>
            <a:ext cx="20116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1353312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800+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85432" y="184708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ESPÉCIES MARINHAS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85432" y="205740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afetadas por resíduos plásticos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697480"/>
            <a:ext cx="2011680" cy="1371600"/>
          </a:xfrm>
          <a:prstGeom prst="rect">
            <a:avLst/>
          </a:prstGeom>
          <a:solidFill>
            <a:srgbClr val="04203D">
              <a:alpha val="8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697480"/>
            <a:ext cx="201168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2862072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210k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38912" y="335584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TONELADAS / 2023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8912" y="356616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lixo retirado dos oceanos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23160" y="2697480"/>
            <a:ext cx="2011680" cy="1371600"/>
          </a:xfrm>
          <a:prstGeom prst="rect">
            <a:avLst/>
          </a:prstGeom>
          <a:solidFill>
            <a:srgbClr val="04203D">
              <a:alpha val="80000"/>
            </a:srgbClr>
          </a:solidFill>
          <a:ln w="12700">
            <a:solidFill>
              <a:srgbClr val="4DD9C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23160" y="2697480"/>
            <a:ext cx="2011680" cy="36576"/>
          </a:xfrm>
          <a:prstGeom prst="rect">
            <a:avLst/>
          </a:prstGeom>
          <a:solidFill>
            <a:srgbClr val="4DD9C0"/>
          </a:solidFill>
          <a:ln w="12700">
            <a:solidFill>
              <a:srgbClr val="4DD9C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87752" y="2862072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3,4 mi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2587752" y="335584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MÓVEIS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87752" y="356616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fabricados com material reciclado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2697480"/>
            <a:ext cx="2011680" cy="1371600"/>
          </a:xfrm>
          <a:prstGeom prst="rect">
            <a:avLst/>
          </a:prstGeom>
          <a:solidFill>
            <a:srgbClr val="04203D">
              <a:alpha val="80000"/>
            </a:srgbClr>
          </a:solidFill>
          <a:ln w="12700">
            <a:solidFill>
              <a:srgbClr val="4DD9C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2697480"/>
            <a:ext cx="2011680" cy="36576"/>
          </a:xfrm>
          <a:prstGeom prst="rect">
            <a:avLst/>
          </a:prstGeom>
          <a:solidFill>
            <a:srgbClr val="4DD9C0"/>
          </a:solidFill>
          <a:ln w="12700">
            <a:solidFill>
              <a:srgbClr val="4DD9C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2862072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128k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4736592" y="335584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36592" y="356616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beneficiadas em países emergentes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20840" y="2697480"/>
            <a:ext cx="2011680" cy="1371600"/>
          </a:xfrm>
          <a:prstGeom prst="rect">
            <a:avLst/>
          </a:prstGeom>
          <a:solidFill>
            <a:srgbClr val="04203D">
              <a:alpha val="80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20840" y="2697480"/>
            <a:ext cx="20116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85432" y="2862072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14,2k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6885432" y="335584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REGIÕES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85432" y="356616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classificadas como risco alto pela IA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657600"/>
          </a:xfrm>
          <a:prstGeom prst="rect">
            <a:avLst/>
          </a:prstGeom>
          <a:solidFill>
            <a:srgbClr val="0A4F6E">
              <a:alpha val="12000"/>
            </a:srgbClr>
          </a:solidFill>
          <a:ln w="12700">
            <a:solidFill>
              <a:srgbClr val="0A4F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2743200"/>
          </a:xfrm>
          <a:prstGeom prst="rect">
            <a:avLst/>
          </a:prstGeom>
          <a:solidFill>
            <a:srgbClr val="0E8FA0">
              <a:alpha val="10000"/>
            </a:srgbClr>
          </a:solidFill>
          <a:ln w="12700">
            <a:solidFill>
              <a:srgbClr val="0E8FA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DE PONTA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 a Plataforma AI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92608" y="1188720"/>
            <a:ext cx="2697480" cy="1572768"/>
          </a:xfrm>
          <a:prstGeom prst="rect">
            <a:avLst/>
          </a:prstGeom>
          <a:solidFill>
            <a:srgbClr val="0A4F6E">
              <a:alpha val="22000"/>
            </a:srgbClr>
          </a:solidFill>
          <a:ln w="12700">
            <a:solidFill>
              <a:srgbClr val="12C4D4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700784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Satélites Multiespectrais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1993392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Sentinel-2, Landsat e Planet Labs: imagens de alta resolução para detectar lixo, plástico e aterros.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0"/>
            <a:ext cx="2697480" cy="1572768"/>
          </a:xfrm>
          <a:prstGeom prst="rect">
            <a:avLst/>
          </a:prstGeom>
          <a:solidFill>
            <a:srgbClr val="0A4F6E">
              <a:alpha val="22000"/>
            </a:srgbClr>
          </a:solidFill>
          <a:ln w="12700">
            <a:solidFill>
              <a:srgbClr val="12C4D4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96" y="137160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82696" y="1700784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Computer Vision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282696" y="1993392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visão computacional detectam manchas de resíduos com 94% de precisão.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943600" y="1188720"/>
            <a:ext cx="2697480" cy="1572768"/>
          </a:xfrm>
          <a:prstGeom prst="rect">
            <a:avLst/>
          </a:prstGeom>
          <a:solidFill>
            <a:srgbClr val="0A4F6E">
              <a:alpha val="22000"/>
            </a:srgbClr>
          </a:solidFill>
          <a:ln w="12700">
            <a:solidFill>
              <a:srgbClr val="12C4D4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37160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08192" y="1700784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Interativo Global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108192" y="1993392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áreas críticas em tempo real, filtre por risco, região e tipo de resíduo.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92608" y="2889504"/>
            <a:ext cx="2697480" cy="1572768"/>
          </a:xfrm>
          <a:prstGeom prst="rect">
            <a:avLst/>
          </a:prstGeom>
          <a:solidFill>
            <a:srgbClr val="0A4F6E">
              <a:alpha val="22000"/>
            </a:srgbClr>
          </a:solidFill>
          <a:ln w="12700">
            <a:solidFill>
              <a:srgbClr val="12C4D4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72384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57200" y="340156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Temporal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369417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imagens mensais: veja se a mancha cresceu, diminuiu ou migrou.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118104" y="2889504"/>
            <a:ext cx="2697480" cy="1572768"/>
          </a:xfrm>
          <a:prstGeom prst="rect">
            <a:avLst/>
          </a:prstGeom>
          <a:solidFill>
            <a:srgbClr val="0A4F6E">
              <a:alpha val="22000"/>
            </a:srgbClr>
          </a:solidFill>
          <a:ln w="12700">
            <a:solidFill>
              <a:srgbClr val="12C4D4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696" y="3072384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282696" y="340156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Complementares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3282696" y="369417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Denúncias de cidadãos, drones, sensores IoT e dados das prefeituras.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5943600" y="2889504"/>
            <a:ext cx="2697480" cy="1572768"/>
          </a:xfrm>
          <a:prstGeom prst="rect">
            <a:avLst/>
          </a:prstGeom>
          <a:solidFill>
            <a:srgbClr val="0A4F6E">
              <a:alpha val="22000"/>
            </a:srgbClr>
          </a:solidFill>
          <a:ln w="12700">
            <a:solidFill>
              <a:srgbClr val="12C4D4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192" y="3072384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108192" y="340156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de Risco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6108192" y="369417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BAIXO, MÉDIO ou ALTO baseado em proximidade de rios, escolas e áreas ambientais.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657600"/>
          </a:xfrm>
          <a:prstGeom prst="rect">
            <a:avLst/>
          </a:prstGeom>
          <a:solidFill>
            <a:srgbClr val="0A4F6E">
              <a:alpha val="12000"/>
            </a:srgbClr>
          </a:solidFill>
          <a:ln w="12700">
            <a:solidFill>
              <a:srgbClr val="0A4F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2743200"/>
          </a:xfrm>
          <a:prstGeom prst="rect">
            <a:avLst/>
          </a:prstGeom>
          <a:solidFill>
            <a:srgbClr val="0E8FA0">
              <a:alpha val="10000"/>
            </a:srgbClr>
          </a:solidFill>
          <a:ln w="12700">
            <a:solidFill>
              <a:srgbClr val="0E8FA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RISCO GLOBAL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o lixo ameaça o planeta agora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5943600" cy="3749040"/>
          </a:xfrm>
          <a:prstGeom prst="rect">
            <a:avLst/>
          </a:prstGeom>
          <a:solidFill>
            <a:srgbClr val="04203D"/>
          </a:solidFill>
          <a:ln w="12700">
            <a:solidFill>
              <a:srgbClr val="12C4D4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5943600" cy="292608"/>
          </a:xfrm>
          <a:prstGeom prst="rect">
            <a:avLst/>
          </a:prstGeom>
          <a:solidFill>
            <a:srgbClr val="020D1A"/>
          </a:solidFill>
          <a:ln w="12700">
            <a:solidFill>
              <a:srgbClr val="020D1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 |  RECYCLE THE WORLD AI — MAPA GLOBAL v2.1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40080" y="1554480"/>
            <a:ext cx="1097280" cy="822960"/>
          </a:xfrm>
          <a:prstGeom prst="rect">
            <a:avLst/>
          </a:prstGeom>
          <a:solidFill>
            <a:srgbClr val="2D7A4A">
              <a:alpha val="45000"/>
            </a:srgbClr>
          </a:solidFill>
          <a:ln w="12700">
            <a:solidFill>
              <a:srgbClr val="4DD9C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60320"/>
            <a:ext cx="731520" cy="1097280"/>
          </a:xfrm>
          <a:prstGeom prst="rect">
            <a:avLst/>
          </a:prstGeom>
          <a:solidFill>
            <a:srgbClr val="2D7A4A">
              <a:alpha val="45000"/>
            </a:srgbClr>
          </a:solidFill>
          <a:ln w="12700">
            <a:solidFill>
              <a:srgbClr val="4DD9C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417320"/>
            <a:ext cx="731520" cy="594360"/>
          </a:xfrm>
          <a:prstGeom prst="rect">
            <a:avLst/>
          </a:prstGeom>
          <a:solidFill>
            <a:srgbClr val="2D7A4A">
              <a:alpha val="45000"/>
            </a:srgbClr>
          </a:solidFill>
          <a:ln w="12700">
            <a:solidFill>
              <a:srgbClr val="4DD9C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103120"/>
            <a:ext cx="1005840" cy="1645920"/>
          </a:xfrm>
          <a:prstGeom prst="rect">
            <a:avLst/>
          </a:prstGeom>
          <a:solidFill>
            <a:srgbClr val="2D7A4A">
              <a:alpha val="45000"/>
            </a:srgbClr>
          </a:solidFill>
          <a:ln w="12700">
            <a:solidFill>
              <a:srgbClr val="4DD9C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371600"/>
            <a:ext cx="2011680" cy="1188720"/>
          </a:xfrm>
          <a:prstGeom prst="rect">
            <a:avLst/>
          </a:prstGeom>
          <a:solidFill>
            <a:srgbClr val="2D7A4A">
              <a:alpha val="45000"/>
            </a:srgbClr>
          </a:solidFill>
          <a:ln w="12700">
            <a:solidFill>
              <a:srgbClr val="4DD9C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2743200"/>
            <a:ext cx="914400" cy="731520"/>
          </a:xfrm>
          <a:prstGeom prst="rect">
            <a:avLst/>
          </a:prstGeom>
          <a:solidFill>
            <a:srgbClr val="2D7A4A">
              <a:alpha val="45000"/>
            </a:srgbClr>
          </a:solidFill>
          <a:ln w="12700">
            <a:solidFill>
              <a:srgbClr val="4DD9C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" y="1883664"/>
            <a:ext cx="256032" cy="256032"/>
          </a:xfrm>
          <a:prstGeom prst="oval">
            <a:avLst/>
          </a:prstGeom>
          <a:solidFill>
            <a:srgbClr val="E63946">
              <a:alpha val="70000"/>
            </a:srgbClr>
          </a:solidFill>
          <a:ln w="12700">
            <a:solidFill>
              <a:srgbClr val="E63946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" y="2203704"/>
            <a:ext cx="164592" cy="164592"/>
          </a:xfrm>
          <a:prstGeom prst="oval">
            <a:avLst/>
          </a:prstGeom>
          <a:solidFill>
            <a:srgbClr val="E63946">
              <a:alpha val="70000"/>
            </a:srgbClr>
          </a:solidFill>
          <a:ln w="12700">
            <a:solidFill>
              <a:srgbClr val="E63946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44568" y="2075688"/>
            <a:ext cx="237744" cy="237744"/>
          </a:xfrm>
          <a:prstGeom prst="oval">
            <a:avLst/>
          </a:prstGeom>
          <a:solidFill>
            <a:srgbClr val="E63946">
              <a:alpha val="70000"/>
            </a:srgbClr>
          </a:solidFill>
          <a:ln w="12700">
            <a:solidFill>
              <a:srgbClr val="E63946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64024" y="2386584"/>
            <a:ext cx="164592" cy="164592"/>
          </a:xfrm>
          <a:prstGeom prst="oval">
            <a:avLst/>
          </a:prstGeom>
          <a:solidFill>
            <a:srgbClr val="E63946">
              <a:alpha val="70000"/>
            </a:srgbClr>
          </a:solidFill>
          <a:ln w="12700">
            <a:solidFill>
              <a:srgbClr val="E63946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9896" y="2002536"/>
            <a:ext cx="201168" cy="201168"/>
          </a:xfrm>
          <a:prstGeom prst="oval">
            <a:avLst/>
          </a:prstGeom>
          <a:solidFill>
            <a:srgbClr val="E63946">
              <a:alpha val="70000"/>
            </a:srgbClr>
          </a:solidFill>
          <a:ln w="12700">
            <a:solidFill>
              <a:srgbClr val="E63946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2377440"/>
            <a:ext cx="182880" cy="182880"/>
          </a:xfrm>
          <a:prstGeom prst="oval">
            <a:avLst/>
          </a:prstGeom>
          <a:solidFill>
            <a:srgbClr val="F4A261">
              <a:alpha val="70000"/>
            </a:srgbClr>
          </a:solidFill>
          <a:ln w="12700">
            <a:solidFill>
              <a:srgbClr val="F4A261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52344" y="2660904"/>
            <a:ext cx="164592" cy="164592"/>
          </a:xfrm>
          <a:prstGeom prst="oval">
            <a:avLst/>
          </a:prstGeom>
          <a:solidFill>
            <a:srgbClr val="F4A261">
              <a:alpha val="70000"/>
            </a:srgbClr>
          </a:solidFill>
          <a:ln w="12700">
            <a:solidFill>
              <a:srgbClr val="F4A261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70048" y="1755648"/>
            <a:ext cx="146304" cy="146304"/>
          </a:xfrm>
          <a:prstGeom prst="oval">
            <a:avLst/>
          </a:prstGeom>
          <a:solidFill>
            <a:srgbClr val="52B788">
              <a:alpha val="70000"/>
            </a:srgbClr>
          </a:solidFill>
          <a:ln w="12700">
            <a:solidFill>
              <a:srgbClr val="52B788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1051560"/>
            <a:ext cx="1691640" cy="804672"/>
          </a:xfrm>
          <a:prstGeom prst="rect">
            <a:avLst/>
          </a:prstGeom>
          <a:solidFill>
            <a:srgbClr val="020D1A">
              <a:alpha val="90000"/>
            </a:srgbClr>
          </a:solidFill>
          <a:ln w="12700">
            <a:solidFill>
              <a:srgbClr val="12C4D4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1078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806440" y="1298448"/>
            <a:ext cx="109728" cy="109728"/>
          </a:xfrm>
          <a:prstGeom prst="oval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61888" y="12801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Alto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06440" y="1472184"/>
            <a:ext cx="109728" cy="109728"/>
          </a:xfrm>
          <a:prstGeom prst="oval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61888" y="145389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Médio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06440" y="1645920"/>
            <a:ext cx="109728" cy="109728"/>
          </a:xfrm>
          <a:prstGeom prst="oval">
            <a:avLst/>
          </a:prstGeom>
          <a:solidFill>
            <a:srgbClr val="52B788"/>
          </a:solidFill>
          <a:ln w="12700">
            <a:solidFill>
              <a:srgbClr val="52B78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61888" y="16276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Baixo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19659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À IA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309360" y="2240280"/>
            <a:ext cx="2606040" cy="731520"/>
          </a:xfrm>
          <a:prstGeom prst="rect">
            <a:avLst/>
          </a:prstGeom>
          <a:solidFill>
            <a:srgbClr val="0A4F6E">
              <a:alpha val="22000"/>
            </a:srgbClr>
          </a:solidFill>
          <a:ln w="12700">
            <a:solidFill>
              <a:srgbClr val="12C4D4">
                <a:alpha val="3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2951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"Onde há maior concentração?"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25877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Sudeste Asiático · Pacífico · Sul da Ásia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09360" y="3063240"/>
            <a:ext cx="2606040" cy="731520"/>
          </a:xfrm>
          <a:prstGeom prst="rect">
            <a:avLst/>
          </a:prstGeom>
          <a:solidFill>
            <a:srgbClr val="0A4F6E">
              <a:alpha val="22000"/>
            </a:srgbClr>
          </a:solidFill>
          <a:ln w="12700">
            <a:solidFill>
              <a:srgbClr val="12C4D4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1181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mancha cresceu?"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34107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Pacífico ↑ 4% em 6 meses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309360" y="3886200"/>
            <a:ext cx="2606040" cy="731520"/>
          </a:xfrm>
          <a:prstGeom prst="rect">
            <a:avLst/>
          </a:prstGeom>
          <a:solidFill>
            <a:srgbClr val="0A4F6E">
              <a:alpha val="22000"/>
            </a:srgbClr>
          </a:solidFill>
          <a:ln w="12700">
            <a:solidFill>
              <a:srgbClr val="12C4D4">
                <a:alpha val="3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9410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"Maior risco costeiro?"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4233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Bangladesh, Filipinas, Nigéria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657600"/>
          </a:xfrm>
          <a:prstGeom prst="rect">
            <a:avLst/>
          </a:prstGeom>
          <a:solidFill>
            <a:srgbClr val="0A4F6E">
              <a:alpha val="12000"/>
            </a:srgbClr>
          </a:solidFill>
          <a:ln w="12700">
            <a:solidFill>
              <a:srgbClr val="0A4F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2743200"/>
          </a:xfrm>
          <a:prstGeom prst="rect">
            <a:avLst/>
          </a:prstGeom>
          <a:solidFill>
            <a:srgbClr val="0E8FA0">
              <a:alpha val="10000"/>
            </a:srgbClr>
          </a:solidFill>
          <a:ln w="12700">
            <a:solidFill>
              <a:srgbClr val="0E8FA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Classificação de Risco Inteligente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classifica cada área considerando proximidade de rios, bairros,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e reservas ambientais — priorizando intervenções urgentes.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17320" y="1764792"/>
            <a:ext cx="5486400" cy="128016"/>
          </a:xfrm>
          <a:prstGeom prst="rect">
            <a:avLst/>
          </a:prstGeom>
          <a:solidFill>
            <a:srgbClr val="F0F7F4">
              <a:alpha val="12000"/>
            </a:srgbClr>
          </a:solidFill>
          <a:ln w="12700">
            <a:solidFill>
              <a:srgbClr val="F0F7F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764792"/>
            <a:ext cx="3950208" cy="12801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9385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a rio · Área periurbana · Descarte irregular recorrente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697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17320" y="2770632"/>
            <a:ext cx="5486400" cy="128016"/>
          </a:xfrm>
          <a:prstGeom prst="rect">
            <a:avLst/>
          </a:prstGeom>
          <a:solidFill>
            <a:srgbClr val="F0F7F4">
              <a:alpha val="12000"/>
            </a:srgbClr>
          </a:solidFill>
          <a:ln w="12700">
            <a:solidFill>
              <a:srgbClr val="F0F7F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2770632"/>
            <a:ext cx="2468880" cy="1280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697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29443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escoamento · Próximo a escola · Região costeira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703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17320" y="3776472"/>
            <a:ext cx="5486400" cy="128016"/>
          </a:xfrm>
          <a:prstGeom prst="rect">
            <a:avLst/>
          </a:prstGeom>
          <a:solidFill>
            <a:srgbClr val="F0F7F4">
              <a:alpha val="12000"/>
            </a:srgbClr>
          </a:solidFill>
          <a:ln w="12700">
            <a:solidFill>
              <a:srgbClr val="F0F7F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17320" y="3776472"/>
            <a:ext cx="4553712" cy="12801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3703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395020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coleta ativa · Monitorado por sensor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572000"/>
            <a:ext cx="8138160" cy="27432"/>
          </a:xfrm>
          <a:prstGeom prst="rect">
            <a:avLst/>
          </a:prstGeom>
          <a:solidFill>
            <a:srgbClr val="12C4D4">
              <a:alpha val="25000"/>
            </a:srgbClr>
          </a:solidFill>
          <a:ln w="12700">
            <a:solidFill>
              <a:srgbClr val="12C4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6634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Fatores: Distância de rios · Densidade populacional · Cobertura de coleta · Proximidade de áreas protegidas · Histórico de descarte irregular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657600"/>
          </a:xfrm>
          <a:prstGeom prst="rect">
            <a:avLst/>
          </a:prstGeom>
          <a:solidFill>
            <a:srgbClr val="0A4F6E">
              <a:alpha val="12000"/>
            </a:srgbClr>
          </a:solidFill>
          <a:ln w="12700">
            <a:solidFill>
              <a:srgbClr val="0A4F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2743200"/>
          </a:xfrm>
          <a:prstGeom prst="rect">
            <a:avLst/>
          </a:prstGeom>
          <a:solidFill>
            <a:srgbClr val="0E8FA0">
              <a:alpha val="10000"/>
            </a:srgbClr>
          </a:solidFill>
          <a:ln w="12700">
            <a:solidFill>
              <a:srgbClr val="0E8FA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REAL · MARES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Mares limpos =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Vida marinha protegida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217920" y="256032"/>
            <a:ext cx="2697480" cy="4617720"/>
          </a:xfrm>
          <a:prstGeom prst="rect">
            <a:avLst/>
          </a:prstGeom>
          <a:solidFill>
            <a:srgbClr val="0A4F6E">
              <a:alpha val="22000"/>
            </a:srgbClr>
          </a:solidFill>
          <a:ln w="12700">
            <a:solidFill>
              <a:srgbClr val="0E8FA0">
                <a:alpha val="4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675120" y="502920"/>
            <a:ext cx="1783080" cy="1783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24231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D9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🌊 O OCEANO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4DD9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PRODUZ 50%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4DD9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OXIGÊNIO DA TERRA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09360" y="3291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Oceanos saudáveis regulam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clima e absorvem CO₂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1508760"/>
            <a:ext cx="5669280" cy="914400"/>
          </a:xfrm>
          <a:prstGeom prst="rect">
            <a:avLst/>
          </a:prstGeom>
          <a:solidFill>
            <a:srgbClr val="0A4F6E">
              <a:alpha val="18000"/>
            </a:srgbClr>
          </a:solidFill>
          <a:ln w="12700">
            <a:solidFill>
              <a:srgbClr val="0E8FA0">
                <a:alpha val="3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1508760"/>
            <a:ext cx="54864" cy="914400"/>
          </a:xfrm>
          <a:prstGeom prst="rect">
            <a:avLst/>
          </a:prstGeom>
          <a:solidFill>
            <a:srgbClr val="0E8FA0"/>
          </a:solidFill>
          <a:ln w="12700">
            <a:solidFill>
              <a:srgbClr val="0E8FA0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70992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1600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Fauna marinha protegida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51560" y="19019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Tartarugas, baleias e golfinhos sofrem menos ingestão de plástico e redes fantasma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0040" y="2587752"/>
            <a:ext cx="5669280" cy="914400"/>
          </a:xfrm>
          <a:prstGeom prst="rect">
            <a:avLst/>
          </a:prstGeom>
          <a:solidFill>
            <a:srgbClr val="0A4F6E">
              <a:alpha val="18000"/>
            </a:srgbClr>
          </a:solidFill>
          <a:ln w="12700">
            <a:solidFill>
              <a:srgbClr val="0E8FA0">
                <a:alpha val="3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0040" y="2587752"/>
            <a:ext cx="54864" cy="914400"/>
          </a:xfrm>
          <a:prstGeom prst="rect">
            <a:avLst/>
          </a:prstGeom>
          <a:solidFill>
            <a:srgbClr val="0E8FA0"/>
          </a:solidFill>
          <a:ln w="12700">
            <a:solidFill>
              <a:srgbClr val="0E8FA0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7889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2679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Recifes de coral regeneram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51560" y="298094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Habitats de 25% de toda a vida marinha respira novamente com mares mais limpos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0040" y="3666744"/>
            <a:ext cx="5669280" cy="914400"/>
          </a:xfrm>
          <a:prstGeom prst="rect">
            <a:avLst/>
          </a:prstGeom>
          <a:solidFill>
            <a:srgbClr val="0A4F6E">
              <a:alpha val="18000"/>
            </a:srgbClr>
          </a:solidFill>
          <a:ln w="12700">
            <a:solidFill>
              <a:srgbClr val="0E8FA0">
                <a:alpha val="35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20040" y="3666744"/>
            <a:ext cx="54864" cy="914400"/>
          </a:xfrm>
          <a:prstGeom prst="rect">
            <a:avLst/>
          </a:prstGeom>
          <a:solidFill>
            <a:srgbClr val="0E8FA0"/>
          </a:solidFill>
          <a:ln w="12700">
            <a:solidFill>
              <a:srgbClr val="0E8FA0">
                <a:alpha val="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86791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7581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Microplásticos fora da cadeia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51560" y="40599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Evitamos que partículas entrem nos peixes que consumimos — protegendo nossa saúde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657600"/>
          </a:xfrm>
          <a:prstGeom prst="rect">
            <a:avLst/>
          </a:prstGeom>
          <a:solidFill>
            <a:srgbClr val="0A4F6E">
              <a:alpha val="12000"/>
            </a:srgbClr>
          </a:solidFill>
          <a:ln w="12700">
            <a:solidFill>
              <a:srgbClr val="0A4F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2743200"/>
          </a:xfrm>
          <a:prstGeom prst="rect">
            <a:avLst/>
          </a:prstGeom>
          <a:solidFill>
            <a:srgbClr val="0E8FA0">
              <a:alpha val="10000"/>
            </a:srgbClr>
          </a:solidFill>
          <a:ln w="12700">
            <a:solidFill>
              <a:srgbClr val="0E8F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5486400" cy="4572000"/>
          </a:xfrm>
          <a:prstGeom prst="rect">
            <a:avLst/>
          </a:prstGeom>
          <a:solidFill>
            <a:srgbClr val="1A4A2E">
              <a:alpha val="25000"/>
            </a:srgbClr>
          </a:solidFill>
          <a:ln w="12700">
            <a:solidFill>
              <a:srgbClr val="1A4A2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4A9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REAL · CIDADES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Cidades limpas =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Qualidade de vida real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217920" y="256032"/>
            <a:ext cx="2697480" cy="4617720"/>
          </a:xfrm>
          <a:prstGeom prst="rect">
            <a:avLst/>
          </a:prstGeom>
          <a:solidFill>
            <a:srgbClr val="1A4A2E">
              <a:alpha val="28000"/>
            </a:srgbClr>
          </a:solidFill>
          <a:ln w="12700">
            <a:solidFill>
              <a:srgbClr val="4A9E68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675120" y="502920"/>
            <a:ext cx="1783080" cy="1783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09360" y="24231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D9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TON RECICLADA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DD9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GERA ATÉ 20X MAIS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DD9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EMPREGOS QUE O ATERRO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33375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Catadores e cooperativas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protagonistas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1508760"/>
            <a:ext cx="5669280" cy="914400"/>
          </a:xfrm>
          <a:prstGeom prst="rect">
            <a:avLst/>
          </a:prstGeom>
          <a:solidFill>
            <a:srgbClr val="1A4A2E">
              <a:alpha val="25000"/>
            </a:srgbClr>
          </a:solidFill>
          <a:ln w="12700">
            <a:solidFill>
              <a:srgbClr val="4A9E68">
                <a:alpha val="4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1508760"/>
            <a:ext cx="54864" cy="914400"/>
          </a:xfrm>
          <a:prstGeom prst="rect">
            <a:avLst/>
          </a:prstGeom>
          <a:solidFill>
            <a:srgbClr val="4A9E68"/>
          </a:solidFill>
          <a:ln w="12700">
            <a:solidFill>
              <a:srgbClr val="4A9E68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70992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1600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pública melhorada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51560" y="19019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focos de dengue, leptospirose e doenças respiratórias — especialmente em comunidades vulneráveis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2587752"/>
            <a:ext cx="5669280" cy="914400"/>
          </a:xfrm>
          <a:prstGeom prst="rect">
            <a:avLst/>
          </a:prstGeom>
          <a:solidFill>
            <a:srgbClr val="1A4A2E">
              <a:alpha val="25000"/>
            </a:srgbClr>
          </a:solidFill>
          <a:ln w="12700">
            <a:solidFill>
              <a:srgbClr val="4A9E68">
                <a:alpha val="4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20040" y="2587752"/>
            <a:ext cx="54864" cy="914400"/>
          </a:xfrm>
          <a:prstGeom prst="rect">
            <a:avLst/>
          </a:prstGeom>
          <a:solidFill>
            <a:srgbClr val="4A9E68"/>
          </a:solidFill>
          <a:ln w="12700">
            <a:solidFill>
              <a:srgbClr val="4A9E68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7889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2679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Rios e mananciais preservados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51560" y="298094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 com boa coleta evitam resíduos em rios que abastecem milhões de pessoas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20040" y="3666744"/>
            <a:ext cx="5669280" cy="914400"/>
          </a:xfrm>
          <a:prstGeom prst="rect">
            <a:avLst/>
          </a:prstGeom>
          <a:solidFill>
            <a:srgbClr val="1A4A2E">
              <a:alpha val="25000"/>
            </a:srgbClr>
          </a:solidFill>
          <a:ln w="12700">
            <a:solidFill>
              <a:srgbClr val="4A9E68">
                <a:alpha val="45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20040" y="3666744"/>
            <a:ext cx="54864" cy="914400"/>
          </a:xfrm>
          <a:prstGeom prst="rect">
            <a:avLst/>
          </a:prstGeom>
          <a:solidFill>
            <a:srgbClr val="4A9E68"/>
          </a:solidFill>
          <a:ln w="12700">
            <a:solidFill>
              <a:srgbClr val="4A9E68">
                <a:alpha val="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867912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" y="37581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Bem-estar e autoestima comunitária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051560" y="40599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limpos reduzem violência e melhoram a saúde mental dos moradores comprovadamente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657600"/>
          </a:xfrm>
          <a:prstGeom prst="rect">
            <a:avLst/>
          </a:prstGeom>
          <a:solidFill>
            <a:srgbClr val="0A4F6E">
              <a:alpha val="12000"/>
            </a:srgbClr>
          </a:solidFill>
          <a:ln w="12700">
            <a:solidFill>
              <a:srgbClr val="0A4F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2743200"/>
          </a:xfrm>
          <a:prstGeom prst="rect">
            <a:avLst/>
          </a:prstGeom>
          <a:solidFill>
            <a:srgbClr val="0E8FA0">
              <a:alpha val="10000"/>
            </a:srgbClr>
          </a:solidFill>
          <a:ln w="12700">
            <a:solidFill>
              <a:srgbClr val="0E8FA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CIRCULAR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lixo ao lar: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Móveis que transformam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011680" cy="1417320"/>
          </a:xfrm>
          <a:prstGeom prst="rect">
            <a:avLst/>
          </a:prstGeom>
          <a:solidFill>
            <a:srgbClr val="04203D">
              <a:alpha val="85000"/>
            </a:srgbClr>
          </a:solidFill>
          <a:ln w="12700">
            <a:solidFill>
              <a:srgbClr val="4DD9C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544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DD9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3,4M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2128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Móveis fabricados com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reciclado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1463040"/>
            <a:ext cx="2011680" cy="1417320"/>
          </a:xfrm>
          <a:prstGeom prst="rect">
            <a:avLst/>
          </a:prstGeom>
          <a:solidFill>
            <a:srgbClr val="04203D">
              <a:alpha val="85000"/>
            </a:srgbClr>
          </a:solidFill>
          <a:ln w="12700">
            <a:solidFill>
              <a:srgbClr val="4A9E6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7752" y="15544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A9E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128K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542032" y="22128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Famílias beneficiadas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países emergentes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463040"/>
            <a:ext cx="2011680" cy="1417320"/>
          </a:xfrm>
          <a:prstGeom prst="rect">
            <a:avLst/>
          </a:prstGeom>
          <a:solidFill>
            <a:srgbClr val="04203D">
              <a:alpha val="85000"/>
            </a:srgbClr>
          </a:solidFill>
          <a:ln w="12700">
            <a:solidFill>
              <a:srgbClr val="12C4D4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15544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C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718304" y="22128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alcançados pelo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distribuição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03136" y="1463040"/>
            <a:ext cx="2011680" cy="1417320"/>
          </a:xfrm>
          <a:prstGeom prst="rect">
            <a:avLst/>
          </a:prstGeom>
          <a:solidFill>
            <a:srgbClr val="04203D">
              <a:alpha val="85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0296" y="15544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894576" y="22128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Beneficiários relatam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na qualidade de vida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0175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IMPACTO REAL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2743200" cy="1508760"/>
          </a:xfrm>
          <a:prstGeom prst="rect">
            <a:avLst/>
          </a:prstGeom>
          <a:solidFill>
            <a:srgbClr val="0A4F6E">
              <a:alpha val="20000"/>
            </a:srgbClr>
          </a:solidFill>
          <a:ln w="12700">
            <a:solidFill>
              <a:srgbClr val="4DD9C0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148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África Subsaariana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0050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52.000 famílias em 18 países com kits completos de mobiliário doméstico reciclado.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3246120"/>
            <a:ext cx="2743200" cy="1508760"/>
          </a:xfrm>
          <a:prstGeom prst="rect">
            <a:avLst/>
          </a:prstGeom>
          <a:solidFill>
            <a:srgbClr val="0A4F6E">
              <a:alpha val="20000"/>
            </a:srgbClr>
          </a:solidFill>
          <a:ln w="12700">
            <a:solidFill>
              <a:srgbClr val="4DD9C0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🏝️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33756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Ilhas do Pacífico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40050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Carteiras de 3 escolas em Vanuatu fabricadas com plástico retirado da costa local.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3246120"/>
            <a:ext cx="2743200" cy="1508760"/>
          </a:xfrm>
          <a:prstGeom prst="rect">
            <a:avLst/>
          </a:prstGeom>
          <a:solidFill>
            <a:srgbClr val="0A4F6E">
              <a:alpha val="20000"/>
            </a:srgbClr>
          </a:solidFill>
          <a:ln w="12700">
            <a:solidFill>
              <a:srgbClr val="4DD9C0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🇧🇷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6364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Brasil: 12.400 famílias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40050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Cooperativas em SP, Rio e Manaus: 420 empregos diretos e 48.000 móveis distribuídos.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657600"/>
          </a:xfrm>
          <a:prstGeom prst="rect">
            <a:avLst/>
          </a:prstGeom>
          <a:solidFill>
            <a:srgbClr val="0A4F6E">
              <a:alpha val="12000"/>
            </a:srgbClr>
          </a:solidFill>
          <a:ln w="12700">
            <a:solidFill>
              <a:srgbClr val="0A4F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2743200"/>
          </a:xfrm>
          <a:prstGeom prst="rect">
            <a:avLst/>
          </a:prstGeom>
          <a:solidFill>
            <a:srgbClr val="0E8FA0">
              <a:alpha val="10000"/>
            </a:srgbClr>
          </a:solidFill>
          <a:ln w="12700">
            <a:solidFill>
              <a:srgbClr val="0E8FA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PARTE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Sua doação move o mundo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3474720"/>
          </a:xfrm>
          <a:prstGeom prst="rect">
            <a:avLst/>
          </a:prstGeom>
          <a:solidFill>
            <a:srgbClr val="04203D">
              <a:alpha val="80000"/>
            </a:srgbClr>
          </a:solidFill>
          <a:ln w="12700">
            <a:solidFill>
              <a:srgbClr val="12C4D4">
                <a:alpha val="50000"/>
              </a:srgbClr>
            </a:solidFill>
            <a:prstDash val="solid"/>
          </a:ln>
          <a:effectLst>
            <a:outerShdw sx="100000" sy="100000" kx="0" ky="0" algn="bl" rotWithShape="0" blurRad="203200" dist="635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34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ARRECADADO GLOBALMENTE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4DD9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R$ 84,6M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meta R$ 134M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5029200" cy="164592"/>
          </a:xfrm>
          <a:prstGeom prst="rect">
            <a:avLst/>
          </a:prstGeom>
          <a:solidFill>
            <a:srgbClr val="F0F7F4">
              <a:alpha val="12000"/>
            </a:srgbClr>
          </a:solidFill>
          <a:ln w="12700">
            <a:solidFill>
              <a:srgbClr val="F0F7F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42032"/>
            <a:ext cx="3168396" cy="164592"/>
          </a:xfrm>
          <a:prstGeom prst="rect">
            <a:avLst/>
          </a:prstGeom>
          <a:solidFill>
            <a:srgbClr val="12C4D4"/>
          </a:solidFill>
          <a:ln w="12700">
            <a:solidFill>
              <a:srgbClr val="12C4D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43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da meta atingida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28.420 doadores · 142 países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0" y="1234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SUA DOAÇÃO É USADA: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852160" y="1508760"/>
            <a:ext cx="2743200" cy="530352"/>
          </a:xfrm>
          <a:prstGeom prst="rect">
            <a:avLst/>
          </a:prstGeom>
          <a:solidFill>
            <a:srgbClr val="0A4F6E">
              <a:alpha val="22000"/>
            </a:srgbClr>
          </a:solidFill>
          <a:ln w="12700">
            <a:solidFill>
              <a:srgbClr val="12C4D4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56362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C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15910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50kg de plástico oceânico limpo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52160" y="2148840"/>
            <a:ext cx="2743200" cy="530352"/>
          </a:xfrm>
          <a:prstGeom prst="rect">
            <a:avLst/>
          </a:prstGeom>
          <a:solidFill>
            <a:srgbClr val="0A4F6E">
              <a:alpha val="22000"/>
            </a:srgbClr>
          </a:solidFill>
          <a:ln w="12700">
            <a:solidFill>
              <a:srgbClr val="12C4D4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22037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C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22311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família equipada com móveis básicos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52160" y="2788920"/>
            <a:ext cx="2743200" cy="530352"/>
          </a:xfrm>
          <a:prstGeom prst="rect">
            <a:avLst/>
          </a:prstGeom>
          <a:solidFill>
            <a:srgbClr val="0A4F6E">
              <a:alpha val="22000"/>
            </a:srgbClr>
          </a:solidFill>
          <a:ln w="12700">
            <a:solidFill>
              <a:srgbClr val="12C4D4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284378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C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R$ 250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287121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1 área de risco por 30 dias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1828800" cy="274320"/>
          </a:xfrm>
          <a:prstGeom prst="rect">
            <a:avLst>
              <a:gd name="adj" fmla="val 50000"/>
            </a:avLst>
          </a:prstGeom>
          <a:solidFill>
            <a:srgbClr val="52B788">
              <a:alpha val="15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Pagamento Seguro SSL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14600" y="4370832"/>
            <a:ext cx="1828800" cy="274320"/>
          </a:xfrm>
          <a:prstGeom prst="rect">
            <a:avLst>
              <a:gd name="adj" fmla="val 50000"/>
            </a:avLst>
          </a:prstGeom>
          <a:solidFill>
            <a:srgbClr val="52B788">
              <a:alpha val="15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Recibo Fiscal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26280" y="4370832"/>
            <a:ext cx="1828800" cy="274320"/>
          </a:xfrm>
          <a:prstGeom prst="rect">
            <a:avLst>
              <a:gd name="adj" fmla="val 50000"/>
            </a:avLst>
          </a:prstGeom>
          <a:solidFill>
            <a:srgbClr val="52B788">
              <a:alpha val="15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100% p/ Projetos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537960" y="4370832"/>
            <a:ext cx="1828800" cy="274320"/>
          </a:xfrm>
          <a:prstGeom prst="rect">
            <a:avLst>
              <a:gd name="adj" fmla="val 50000"/>
            </a:avLst>
          </a:prstGeom>
          <a:solidFill>
            <a:srgbClr val="52B788">
              <a:alpha val="15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Transparência Total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3657600"/>
          </a:xfrm>
          <a:prstGeom prst="rect">
            <a:avLst/>
          </a:prstGeom>
          <a:solidFill>
            <a:srgbClr val="0A4F6E">
              <a:alpha val="12000"/>
            </a:srgbClr>
          </a:solidFill>
          <a:ln w="12700">
            <a:solidFill>
              <a:srgbClr val="0A4F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2743200"/>
          </a:xfrm>
          <a:prstGeom prst="rect">
            <a:avLst/>
          </a:prstGeom>
          <a:solidFill>
            <a:srgbClr val="0E8FA0">
              <a:alpha val="10000"/>
            </a:srgbClr>
          </a:solidFill>
          <a:ln w="12700">
            <a:solidFill>
              <a:srgbClr val="0E8FA0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2286000" y="457200"/>
            <a:ext cx="45720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0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JUNTE-SE AO MOVIMENTO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0058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i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Recycle the</a:t>
            </a:r>
            <a:endParaRPr lang="en-US" sz="6400" dirty="0"/>
          </a:p>
          <a:p>
            <a:pPr algn="ctr" indent="0" marL="0">
              <a:buNone/>
            </a:pPr>
            <a:r>
              <a:rPr lang="en-US" sz="6400" b="1" i="1" dirty="0">
                <a:solidFill>
                  <a:srgbClr val="F0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AI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914400" y="2788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satélites, inteligência artificial e dados cidadãos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erradicar a crise global de resíduos.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" y="3566160"/>
            <a:ext cx="2331720" cy="411480"/>
          </a:xfrm>
          <a:prstGeom prst="rect">
            <a:avLst>
              <a:gd name="adj" fmla="val 48889"/>
            </a:avLst>
          </a:prstGeom>
          <a:solidFill>
            <a:srgbClr val="12C4D4">
              <a:alpha val="18000"/>
            </a:srgbClr>
          </a:solidFill>
          <a:ln w="12700">
            <a:solidFill>
              <a:srgbClr val="12C4D4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566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recycletheworld.ai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3566160"/>
            <a:ext cx="2331720" cy="411480"/>
          </a:xfrm>
          <a:prstGeom prst="rect">
            <a:avLst>
              <a:gd name="adj" fmla="val 48889"/>
            </a:avLst>
          </a:prstGeom>
          <a:solidFill>
            <a:srgbClr val="52B788">
              <a:alpha val="18000"/>
            </a:srgbClr>
          </a:solidFill>
          <a:ln w="12700">
            <a:solidFill>
              <a:srgbClr val="52B788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0" y="3566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  Faça sua Doação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3566160"/>
            <a:ext cx="2331720" cy="411480"/>
          </a:xfrm>
          <a:prstGeom prst="rect">
            <a:avLst>
              <a:gd name="adj" fmla="val 48889"/>
            </a:avLst>
          </a:prstGeom>
          <a:solidFill>
            <a:srgbClr val="4DD9C0">
              <a:alpha val="18000"/>
            </a:srgbClr>
          </a:solidFill>
          <a:ln w="12700">
            <a:solidFill>
              <a:srgbClr val="4DD9C0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3566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 Acessar Plataforma AI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14400" y="4663440"/>
            <a:ext cx="7315200" cy="18288"/>
          </a:xfrm>
          <a:prstGeom prst="rect">
            <a:avLst/>
          </a:prstGeom>
          <a:solidFill>
            <a:srgbClr val="12C4D4">
              <a:alpha val="30000"/>
            </a:srgbClr>
          </a:solidFill>
          <a:ln w="12700">
            <a:solidFill>
              <a:srgbClr val="12C4D4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47274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de: Sentinel-2 · Landsat · Planet Labs · UNEP · Ocean Conservancy  |  2025 · Recycle the World AI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2026-06-08T01:05:05Z</dcterms:created>
  <dcterms:modified xsi:type="dcterms:W3CDTF">2026-06-08T01:05:05Z</dcterms:modified>
</cp:coreProperties>
</file>